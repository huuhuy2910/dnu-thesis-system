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1603" y="-13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32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50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24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0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25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3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94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958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4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430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7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38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34C510F2-7255-D7C3-9DCD-43BEBE1666BB}"/>
              </a:ext>
            </a:extLst>
          </p:cNvPr>
          <p:cNvGrpSpPr/>
          <p:nvPr/>
        </p:nvGrpSpPr>
        <p:grpSpPr>
          <a:xfrm>
            <a:off x="5996288" y="2036859"/>
            <a:ext cx="683266" cy="212921"/>
            <a:chOff x="6071533" y="2181217"/>
            <a:chExt cx="683266" cy="215444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A57E6C6-5BC4-200A-55C5-E63038F9478E}"/>
                </a:ext>
              </a:extLst>
            </p:cNvPr>
            <p:cNvSpPr txBox="1"/>
            <p:nvPr/>
          </p:nvSpPr>
          <p:spPr>
            <a:xfrm>
              <a:off x="6105590" y="2181217"/>
              <a:ext cx="64920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 dirty="0" err="1">
                  <a:latin typeface="Arial Hebrew Scholar" pitchFamily="2" charset="-79"/>
                  <a:cs typeface="Arial Hebrew Scholar" pitchFamily="2" charset="-79"/>
                </a:rPr>
                <a:t>Github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8" name="Picture 4" descr="Github Logo - Free social media icons">
              <a:extLst>
                <a:ext uri="{FF2B5EF4-FFF2-40B4-BE49-F238E27FC236}">
                  <a16:creationId xmlns:a16="http://schemas.microsoft.com/office/drawing/2014/main" id="{4C95027D-6E4F-D713-8DAE-329A92FB3C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EBFABA5-206B-548E-3C0E-CC2EE202A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633177"/>
              </p:ext>
            </p:extLst>
          </p:nvPr>
        </p:nvGraphicFramePr>
        <p:xfrm>
          <a:off x="71979" y="2356347"/>
          <a:ext cx="3890421" cy="193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438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Giới thiệu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9349">
                <a:tc>
                  <a:txBody>
                    <a:bodyPr/>
                    <a:lstStyle/>
                    <a:p>
                      <a:r>
                        <a:rPr lang="vi-VN" sz="600" dirty="0"/>
                        <a:t>Hệ thống ERP được xây dựng trên nền tảng Odoo, tập trung vào ba phân hệ chính, cung cấp các chức năng sau:</a:t>
                      </a:r>
                    </a:p>
                    <a:p>
                      <a:r>
                        <a:rPr lang="vi-VN" sz="600" b="1" dirty="0"/>
                        <a:t>Quản lý nhân sự (HRM)</a:t>
                      </a:r>
                      <a:br>
                        <a:rPr lang="vi-VN" sz="600" dirty="0"/>
                      </a:br>
                      <a:r>
                        <a:rPr lang="vi-VN" sz="600" dirty="0"/>
                        <a:t>Quản lý hồ sơ nhân viên; quản lý đơn vị và chức vụ; theo dõi lịch sử công tác; quản lý chứng chỉ và bằng cấp; tìm kiếm và lọc nhân sự; thống kê và báo cáo nhân sự; cung cấp dữ liệu nhân sự làm nguồn gốc cho phân quyền, phê duyệt và gán người phụ trách.</a:t>
                      </a:r>
                    </a:p>
                    <a:p>
                      <a:r>
                        <a:rPr lang="vi-VN" sz="600" b="1" dirty="0"/>
                        <a:t>Quản lý khách hàng (Customer/CRM)</a:t>
                      </a:r>
                      <a:br>
                        <a:rPr lang="vi-VN" sz="600" dirty="0"/>
                      </a:br>
                      <a:r>
                        <a:rPr lang="vi-VN" sz="600" dirty="0"/>
                        <a:t>Quản lý thông tin khách hàng cá nhân và doanh nghiệp; quản lý cơ hội bán hàng; tạo và quản lý báo giá; quản lý hợp đồng; quản lý đơn hàng và giao hàng; phát hành hóa đơn; ghi nhận thanh toán; theo dõi công nợ; lưu lịch sử tương tác; xử lý khiếu nại và phản hồi; quản lý chương trình khách hàng thân thiết; liên kết hồ sơ tài liệu và hợp đồng theo từng khách hàng.</a:t>
                      </a:r>
                    </a:p>
                    <a:p>
                      <a:r>
                        <a:rPr lang="vi-VN" sz="600" b="1" dirty="0"/>
                        <a:t>Quản lý văn bản (Document Management)</a:t>
                      </a:r>
                      <a:br>
                        <a:rPr lang="vi-VN" sz="600" dirty="0"/>
                      </a:br>
                      <a:r>
                        <a:rPr lang="vi-VN" sz="600" dirty="0"/>
                        <a:t>Quản lý văn bản đến và văn bản đi; phân loại và gắn metadata văn bản; số hóa tài liệu bằng OCR; quản lý quy trình phê duyệt đa cấp; ký điện tử theo PKI; quản lý hợp đồng và tài liệu pháp lý; lưu lịch sử phiên bản và so sánh thay đổi; quản lý mẫu văn bản; theo dõi trạng thái xử lý văn bản; thống kê và dashboard văn bản; tích hợp chatbot AI hỗ trợ tra cứu và xử lý văn bản.</a:t>
                      </a:r>
                    </a:p>
                    <a:p>
                      <a:pPr algn="just"/>
                      <a:endParaRPr lang="vi-VN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751592-98ED-BE76-ED93-630A31DCD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851273"/>
              </p:ext>
            </p:extLst>
          </p:nvPr>
        </p:nvGraphicFramePr>
        <p:xfrm>
          <a:off x="4027952" y="2360409"/>
          <a:ext cx="2789416" cy="2289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6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244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Kiến trúc hệ thống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20371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pSp>
        <p:nvGrpSpPr>
          <p:cNvPr id="70" name="Group 69">
            <a:extLst>
              <a:ext uri="{FF2B5EF4-FFF2-40B4-BE49-F238E27FC236}">
                <a16:creationId xmlns:a16="http://schemas.microsoft.com/office/drawing/2014/main" id="{518BA7C7-D5B3-521F-4863-EB6372F08A16}"/>
              </a:ext>
            </a:extLst>
          </p:cNvPr>
          <p:cNvGrpSpPr/>
          <p:nvPr/>
        </p:nvGrpSpPr>
        <p:grpSpPr>
          <a:xfrm>
            <a:off x="0" y="-39866"/>
            <a:ext cx="6858000" cy="2289646"/>
            <a:chOff x="0" y="-40063"/>
            <a:chExt cx="6858000" cy="228964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76F30E7-DE29-4869-A261-9356210766F3}"/>
                </a:ext>
              </a:extLst>
            </p:cNvPr>
            <p:cNvGrpSpPr/>
            <p:nvPr/>
          </p:nvGrpSpPr>
          <p:grpSpPr>
            <a:xfrm>
              <a:off x="0" y="-40063"/>
              <a:ext cx="6858000" cy="1149907"/>
              <a:chOff x="0" y="-40063"/>
              <a:chExt cx="6858000" cy="1149907"/>
            </a:xfrm>
          </p:grpSpPr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7ABF4E65-9336-CED4-40B5-828F0E50C5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-1275"/>
                <a:ext cx="6858000" cy="1111119"/>
              </a:xfrm>
              <a:prstGeom prst="rect">
                <a:avLst/>
              </a:prstGeom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6C724AE-79C3-CBF7-13D9-AFB8C50186BA}"/>
                  </a:ext>
                </a:extLst>
              </p:cNvPr>
              <p:cNvSpPr txBox="1"/>
              <p:nvPr/>
            </p:nvSpPr>
            <p:spPr>
              <a:xfrm>
                <a:off x="2370087" y="-40063"/>
                <a:ext cx="21291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b="1" dirty="0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TRƯỜNG ĐẠI HỌC ĐẠI NAM</a:t>
                </a:r>
              </a:p>
              <a:p>
                <a:pPr algn="ctr"/>
                <a:r>
                  <a:rPr lang="en-US" sz="1000" b="1" dirty="0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KHOA CÔNG NGHỆ THÔNG TIN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6EBD40C-8A27-10B2-BA61-9E94053E57EA}"/>
                </a:ext>
              </a:extLst>
            </p:cNvPr>
            <p:cNvGrpSpPr/>
            <p:nvPr/>
          </p:nvGrpSpPr>
          <p:grpSpPr>
            <a:xfrm>
              <a:off x="0" y="1082578"/>
              <a:ext cx="6858000" cy="1167005"/>
              <a:chOff x="0" y="1082578"/>
              <a:chExt cx="6858000" cy="1167005"/>
            </a:xfrm>
          </p:grpSpPr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3D9E4F7B-BDBB-AF4A-B4AD-63280788DE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082578"/>
                <a:ext cx="6765928" cy="329891"/>
              </a:xfrm>
              <a:prstGeom prst="rect">
                <a:avLst/>
              </a:prstGeom>
            </p:spPr>
            <p:txBody>
              <a:bodyPr vert="horz" lIns="20299" tIns="10150" rIns="20299" bIns="10150" rtlCol="0" anchor="ctr">
                <a:noAutofit/>
              </a:bodyPr>
              <a:lstStyle>
                <a:lvl1pPr algn="ctr" defTabSz="288036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189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ERP: HỆ THỐNG QUẢN LÝ KHÁCH HÀNG VÀ VĂN BẢN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DB71301-74E9-3D33-787D-882C46CB1337}"/>
                  </a:ext>
                </a:extLst>
              </p:cNvPr>
              <p:cNvSpPr/>
              <p:nvPr/>
            </p:nvSpPr>
            <p:spPr>
              <a:xfrm>
                <a:off x="0" y="1337994"/>
                <a:ext cx="6858000" cy="1455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799" b="1" dirty="0"/>
                  <a:t>Nguyễn Hữu Huy, Nguyễn Thanh Bình, Đào Thị Phương Long</a:t>
                </a:r>
              </a:p>
            </p:txBody>
          </p: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77C1551A-D245-378A-F0E2-59C5BABF9F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20895" y="1512206"/>
                <a:ext cx="1616210" cy="737377"/>
              </a:xfrm>
              <a:prstGeom prst="rect">
                <a:avLst/>
              </a:prstGeom>
            </p:spPr>
          </p:pic>
        </p:grpSp>
      </p:grp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1CED74D1-B04A-EC38-34C4-DD7DDC446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846593"/>
              </p:ext>
            </p:extLst>
          </p:nvPr>
        </p:nvGraphicFramePr>
        <p:xfrm>
          <a:off x="4027952" y="4670365"/>
          <a:ext cx="2789415" cy="1926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5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5726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 nghệ sử dụng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670284">
                <a:tc>
                  <a:txBody>
                    <a:bodyPr/>
                    <a:lstStyle/>
                    <a:p>
                      <a:pPr algn="just"/>
                      <a:endParaRPr lang="vi-VN" sz="900">
                        <a:latin typeface="Arial" panose="020B0604020202020204" pitchFamily="34" charset="0"/>
                        <a:cs typeface="Arial Hebrew Schola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pic>
        <p:nvPicPr>
          <p:cNvPr id="72" name="Picture 71">
            <a:extLst>
              <a:ext uri="{FF2B5EF4-FFF2-40B4-BE49-F238E27FC236}">
                <a16:creationId xmlns:a16="http://schemas.microsoft.com/office/drawing/2014/main" id="{023B2A99-2661-4945-745B-F6C3161DB1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3334" y="4963336"/>
            <a:ext cx="2378325" cy="1608543"/>
          </a:xfrm>
          <a:prstGeom prst="rect">
            <a:avLst/>
          </a:prstGeom>
        </p:spPr>
      </p:pic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232FA873-71B4-C434-9F8C-88FB366D9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528671"/>
              </p:ext>
            </p:extLst>
          </p:nvPr>
        </p:nvGraphicFramePr>
        <p:xfrm>
          <a:off x="71978" y="4201160"/>
          <a:ext cx="3890421" cy="5725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33102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Giao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ứng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5394656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733821"/>
                  </a:ext>
                </a:extLst>
              </a:tr>
            </a:tbl>
          </a:graphicData>
        </a:graphic>
      </p:graphicFrame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F959286E-D53A-FB49-5826-7326306DBE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971899"/>
              </p:ext>
            </p:extLst>
          </p:nvPr>
        </p:nvGraphicFramePr>
        <p:xfrm>
          <a:off x="4027951" y="6619313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0335167A-EED6-A656-BA4F-2AD2225BD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987536"/>
              </p:ext>
            </p:extLst>
          </p:nvPr>
        </p:nvGraphicFramePr>
        <p:xfrm>
          <a:off x="4027950" y="8068432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Hướng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triển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triển</a:t>
                      </a:r>
                      <a:r>
                        <a:rPr lang="en-US" sz="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thêm</a:t>
                      </a:r>
                      <a:r>
                        <a:rPr lang="en-US" sz="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thành</a:t>
                      </a:r>
                      <a:r>
                        <a:rPr lang="en-US" sz="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phần</a:t>
                      </a:r>
                      <a:r>
                        <a:rPr lang="en-US" sz="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</a:t>
                      </a:r>
                      <a:r>
                        <a:rPr lang="en-US" sz="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hệ</a:t>
                      </a:r>
                      <a:r>
                        <a:rPr lang="en-US" sz="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thống</a:t>
                      </a:r>
                      <a:r>
                        <a:rPr lang="en-US" sz="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ERP :</a:t>
                      </a:r>
                    </a:p>
                    <a:p>
                      <a:pPr marL="346075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7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triển</a:t>
                      </a:r>
                      <a:r>
                        <a:rPr lang="en-US" sz="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hệ</a:t>
                      </a:r>
                      <a:r>
                        <a:rPr lang="en-US" sz="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thống</a:t>
                      </a:r>
                      <a:r>
                        <a:rPr lang="en-US" sz="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phân</a:t>
                      </a:r>
                      <a:r>
                        <a:rPr lang="en-US" sz="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tích</a:t>
                      </a:r>
                      <a:r>
                        <a:rPr lang="en-US" sz="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đánh</a:t>
                      </a:r>
                      <a:r>
                        <a:rPr lang="en-US" sz="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giá</a:t>
                      </a:r>
                      <a:r>
                        <a:rPr lang="en-US" sz="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hiệu</a:t>
                      </a:r>
                      <a:r>
                        <a:rPr lang="en-US" sz="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suất</a:t>
                      </a:r>
                      <a:endParaRPr lang="en-US" sz="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6075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af-ZA" sz="700" dirty="0">
                          <a:latin typeface="+mn-lt"/>
                          <a:cs typeface="Arial" panose="020B0604020202020204" pitchFamily="34" charset="0"/>
                        </a:rPr>
                        <a:t>X</a:t>
                      </a:r>
                      <a:r>
                        <a:rPr lang="vi-VN" sz="700" dirty="0">
                          <a:latin typeface="+mn-lt"/>
                          <a:cs typeface="Arial" panose="020B0604020202020204" pitchFamily="34" charset="0"/>
                        </a:rPr>
                        <a:t>ây dựng cơ chế kiểm soát rủi ro và tuân thủ</a:t>
                      </a:r>
                      <a:endParaRPr lang="af-ZA" sz="7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346075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af-ZA" sz="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Mở rộng chức năng nghiệp vụ theo chiều sâu</a:t>
                      </a:r>
                    </a:p>
                    <a:p>
                      <a:pPr marL="346075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7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Nâng</a:t>
                      </a:r>
                      <a:r>
                        <a:rPr lang="en-US" sz="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cao</a:t>
                      </a:r>
                      <a:r>
                        <a:rPr lang="en-US" sz="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mức</a:t>
                      </a:r>
                      <a:r>
                        <a:rPr lang="en-US" sz="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độ</a:t>
                      </a:r>
                      <a:r>
                        <a:rPr lang="en-US" sz="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tự</a:t>
                      </a:r>
                      <a:r>
                        <a:rPr lang="en-US" sz="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động</a:t>
                      </a:r>
                      <a:r>
                        <a:rPr lang="en-US" sz="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hóa</a:t>
                      </a:r>
                      <a:r>
                        <a:rPr lang="en-US" sz="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thông</a:t>
                      </a:r>
                      <a:r>
                        <a:rPr lang="en-US" sz="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minh</a:t>
                      </a:r>
                      <a:endParaRPr lang="en-US" sz="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6075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af-ZA" sz="700" dirty="0">
                          <a:latin typeface="+mn-lt"/>
                          <a:cs typeface="Arial" panose="020B0604020202020204" pitchFamily="34" charset="0"/>
                        </a:rPr>
                        <a:t>T</a:t>
                      </a:r>
                      <a:r>
                        <a:rPr lang="vi-VN" sz="700" dirty="0">
                          <a:latin typeface="+mn-lt"/>
                          <a:cs typeface="Arial" panose="020B0604020202020204" pitchFamily="34" charset="0"/>
                        </a:rPr>
                        <a:t>ối ưu trải nghiệm người dùng và triển khai thực tế.</a:t>
                      </a:r>
                      <a:endParaRPr lang="en-US" sz="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sp>
        <p:nvSpPr>
          <p:cNvPr id="92" name="TextBox 91">
            <a:extLst>
              <a:ext uri="{FF2B5EF4-FFF2-40B4-BE49-F238E27FC236}">
                <a16:creationId xmlns:a16="http://schemas.microsoft.com/office/drawing/2014/main" id="{A0C06921-7CE0-2846-54DF-FEF2E2972390}"/>
              </a:ext>
            </a:extLst>
          </p:cNvPr>
          <p:cNvSpPr txBox="1"/>
          <p:nvPr/>
        </p:nvSpPr>
        <p:spPr>
          <a:xfrm>
            <a:off x="3943438" y="9586860"/>
            <a:ext cx="29584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dirty="0">
                <a:latin typeface="Arial" panose="020B0604020202020204" pitchFamily="34" charset="0"/>
                <a:cs typeface="Arial Hebrew Scholar"/>
              </a:rPr>
              <a:t>©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AIoTLab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, Faculty of Information Technology, 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DaiNam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 University</a:t>
            </a:r>
          </a:p>
        </p:txBody>
      </p: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744A033B-ADB1-65DC-6E8B-77A248771067}"/>
              </a:ext>
            </a:extLst>
          </p:cNvPr>
          <p:cNvGrpSpPr/>
          <p:nvPr/>
        </p:nvGrpSpPr>
        <p:grpSpPr>
          <a:xfrm>
            <a:off x="4535229" y="7599157"/>
            <a:ext cx="683266" cy="362763"/>
            <a:chOff x="6071533" y="2197843"/>
            <a:chExt cx="683266" cy="367061"/>
          </a:xfrm>
        </p:grpSpPr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F232106F-BB02-AEDC-69E9-2BDE01BDE00D}"/>
                </a:ext>
              </a:extLst>
            </p:cNvPr>
            <p:cNvSpPr txBox="1"/>
            <p:nvPr/>
          </p:nvSpPr>
          <p:spPr>
            <a:xfrm>
              <a:off x="6105590" y="2222338"/>
              <a:ext cx="649209" cy="3425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>
                  <a:latin typeface="Arial Hebrew Scholar" pitchFamily="2" charset="-79"/>
                  <a:cs typeface="Arial Hebrew Scholar" pitchFamily="2" charset="-79"/>
                </a:rPr>
                <a:t>Github Platform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6" name="Picture 4" descr="Github Logo - Free social media icons">
              <a:extLst>
                <a:ext uri="{FF2B5EF4-FFF2-40B4-BE49-F238E27FC236}">
                  <a16:creationId xmlns:a16="http://schemas.microsoft.com/office/drawing/2014/main" id="{58468723-8BEE-E9A8-37F1-25D443A786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CA4AE13E-261B-CCD9-0CCB-E209746E8442}"/>
              </a:ext>
            </a:extLst>
          </p:cNvPr>
          <p:cNvGrpSpPr/>
          <p:nvPr/>
        </p:nvGrpSpPr>
        <p:grpSpPr>
          <a:xfrm>
            <a:off x="5679061" y="6914401"/>
            <a:ext cx="725093" cy="1027194"/>
            <a:chOff x="5729861" y="6934721"/>
            <a:chExt cx="725093" cy="1027194"/>
          </a:xfrm>
        </p:grpSpPr>
        <p:pic>
          <p:nvPicPr>
            <p:cNvPr id="1029" name="Picture 1028">
              <a:extLst>
                <a:ext uri="{FF2B5EF4-FFF2-40B4-BE49-F238E27FC236}">
                  <a16:creationId xmlns:a16="http://schemas.microsoft.com/office/drawing/2014/main" id="{9A6FA28E-24A2-971C-1329-B9C39D802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29861" y="6934721"/>
              <a:ext cx="658860" cy="648000"/>
            </a:xfrm>
            <a:prstGeom prst="rect">
              <a:avLst/>
            </a:prstGeom>
          </p:spPr>
        </p:pic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CF614D1B-5E22-CCB8-7095-13F12F04FD96}"/>
                </a:ext>
              </a:extLst>
            </p:cNvPr>
            <p:cNvGrpSpPr/>
            <p:nvPr/>
          </p:nvGrpSpPr>
          <p:grpSpPr>
            <a:xfrm>
              <a:off x="5771688" y="7623361"/>
              <a:ext cx="683266" cy="338554"/>
              <a:chOff x="6071533" y="2191497"/>
              <a:chExt cx="683266" cy="342566"/>
            </a:xfrm>
          </p:grpSpPr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C3051B63-3463-6494-3CCA-F8F194D0A4B7}"/>
                  </a:ext>
                </a:extLst>
              </p:cNvPr>
              <p:cNvSpPr txBox="1"/>
              <p:nvPr/>
            </p:nvSpPr>
            <p:spPr>
              <a:xfrm>
                <a:off x="6105590" y="2191497"/>
                <a:ext cx="649209" cy="342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800" b="1">
                    <a:latin typeface="Arial Hebrew Scholar" pitchFamily="2" charset="-79"/>
                    <a:cs typeface="Arial Hebrew Scholar" pitchFamily="2" charset="-79"/>
                  </a:rPr>
                  <a:t>Github FIT-DNU</a:t>
                </a:r>
                <a:endParaRPr lang="en-US" sz="800" b="1" dirty="0"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pic>
            <p:nvPicPr>
              <p:cNvPr id="1033" name="Picture 4" descr="Github Logo - Free social media icons">
                <a:extLst>
                  <a:ext uri="{FF2B5EF4-FFF2-40B4-BE49-F238E27FC236}">
                    <a16:creationId xmlns:a16="http://schemas.microsoft.com/office/drawing/2014/main" id="{E7E7E365-5E2E-837C-A71B-F336329B51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800000" flipV="1">
                <a:off x="6071533" y="2197843"/>
                <a:ext cx="166522" cy="1665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3" name="Hình ảnh 2" descr="Ảnh có chứa mẫu, hình vuông, điểm ảnh, thiết kế&#10;&#10;Nội dung do AI tạo ra có thể không chính xác.">
            <a:extLst>
              <a:ext uri="{FF2B5EF4-FFF2-40B4-BE49-F238E27FC236}">
                <a16:creationId xmlns:a16="http://schemas.microsoft.com/office/drawing/2014/main" id="{92AA8123-F045-242D-EE24-A240AF19FB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4970" y="6916409"/>
            <a:ext cx="646309" cy="64630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45CB44D-3F30-A8CF-C7E1-C78BE67395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5486" y="2698350"/>
            <a:ext cx="2690442" cy="17004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D79CB2-937C-69EA-6679-F763C270576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9671" y="6423955"/>
            <a:ext cx="3315061" cy="17251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2117A0-65F7-036C-BF14-C7AA71EC1F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9672" y="8180155"/>
            <a:ext cx="3315061" cy="172584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A64A4F7-A3CE-0A79-28B4-F36FBBDA507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6248" y="4590345"/>
            <a:ext cx="3315061" cy="1728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A1CB46-FFC3-03AD-3198-0FDB605E0BD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87410" y="1306004"/>
            <a:ext cx="806336" cy="748006"/>
          </a:xfrm>
          <a:prstGeom prst="rect">
            <a:avLst/>
          </a:prstGeom>
        </p:spPr>
      </p:pic>
      <p:sp>
        <p:nvSpPr>
          <p:cNvPr id="10" name="AutoShape 2" descr="xem trước mã">
            <a:extLst>
              <a:ext uri="{FF2B5EF4-FFF2-40B4-BE49-F238E27FC236}">
                <a16:creationId xmlns:a16="http://schemas.microsoft.com/office/drawing/2014/main" id="{3A9400DE-61EE-88BB-984D-7FA4FD08CC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4800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E1E8B6E-E5C8-EF63-F311-A75509968CE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4254" y="1338191"/>
            <a:ext cx="755226" cy="75739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FAB4910-AD2F-0B0C-5346-F880E8124216}"/>
              </a:ext>
            </a:extLst>
          </p:cNvPr>
          <p:cNvSpPr txBox="1"/>
          <p:nvPr/>
        </p:nvSpPr>
        <p:spPr>
          <a:xfrm>
            <a:off x="87255" y="2052994"/>
            <a:ext cx="9092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000" b="1" dirty="0" err="1"/>
              <a:t>Video</a:t>
            </a:r>
            <a:r>
              <a:rPr lang="vi-VN" sz="1000" b="1" dirty="0"/>
              <a:t> </a:t>
            </a:r>
            <a:r>
              <a:rPr lang="vi-VN" sz="1000" b="1" dirty="0" err="1"/>
              <a:t>demo</a:t>
            </a:r>
            <a:endParaRPr lang="en-ID" sz="1000" b="1" dirty="0"/>
          </a:p>
        </p:txBody>
      </p:sp>
    </p:spTree>
    <p:extLst>
      <p:ext uri="{BB962C8B-B14F-4D97-AF65-F5344CB8AC3E}">
        <p14:creationId xmlns:p14="http://schemas.microsoft.com/office/powerpoint/2010/main" val="1335869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662</TotalTime>
  <Words>440</Words>
  <Application>Microsoft Office PowerPoint</Application>
  <PresentationFormat>A4 Paper (210x297 mm)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Hebrew Scholar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Thái Khánh Nguyễn</dc:creator>
  <cp:lastModifiedBy>Binh Nguyen</cp:lastModifiedBy>
  <cp:revision>101</cp:revision>
  <dcterms:created xsi:type="dcterms:W3CDTF">2023-07-02T07:57:15Z</dcterms:created>
  <dcterms:modified xsi:type="dcterms:W3CDTF">2026-01-28T23:02:32Z</dcterms:modified>
</cp:coreProperties>
</file>